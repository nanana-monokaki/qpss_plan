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游ゴシック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游ゴシック"/>
      </a:defRPr>
    </a:lvl1pPr>
    <a:lvl2pPr indent="228600" latinLnBrk="0">
      <a:defRPr sz="1200">
        <a:latin typeface="+mn-lt"/>
        <a:ea typeface="+mn-ea"/>
        <a:cs typeface="+mn-cs"/>
        <a:sym typeface="游ゴシック"/>
      </a:defRPr>
    </a:lvl2pPr>
    <a:lvl3pPr indent="457200" latinLnBrk="0">
      <a:defRPr sz="1200">
        <a:latin typeface="+mn-lt"/>
        <a:ea typeface="+mn-ea"/>
        <a:cs typeface="+mn-cs"/>
        <a:sym typeface="游ゴシック"/>
      </a:defRPr>
    </a:lvl3pPr>
    <a:lvl4pPr indent="685800" latinLnBrk="0">
      <a:defRPr sz="1200">
        <a:latin typeface="+mn-lt"/>
        <a:ea typeface="+mn-ea"/>
        <a:cs typeface="+mn-cs"/>
        <a:sym typeface="游ゴシック"/>
      </a:defRPr>
    </a:lvl4pPr>
    <a:lvl5pPr indent="914400" latinLnBrk="0">
      <a:defRPr sz="1200">
        <a:latin typeface="+mn-lt"/>
        <a:ea typeface="+mn-ea"/>
        <a:cs typeface="+mn-cs"/>
        <a:sym typeface="游ゴシック"/>
      </a:defRPr>
    </a:lvl5pPr>
    <a:lvl6pPr indent="1143000" latinLnBrk="0">
      <a:defRPr sz="1200">
        <a:latin typeface="+mn-lt"/>
        <a:ea typeface="+mn-ea"/>
        <a:cs typeface="+mn-cs"/>
        <a:sym typeface="游ゴシック"/>
      </a:defRPr>
    </a:lvl6pPr>
    <a:lvl7pPr indent="1371600" latinLnBrk="0">
      <a:defRPr sz="1200">
        <a:latin typeface="+mn-lt"/>
        <a:ea typeface="+mn-ea"/>
        <a:cs typeface="+mn-cs"/>
        <a:sym typeface="游ゴシック"/>
      </a:defRPr>
    </a:lvl7pPr>
    <a:lvl8pPr indent="1600200" latinLnBrk="0">
      <a:defRPr sz="1200">
        <a:latin typeface="+mn-lt"/>
        <a:ea typeface="+mn-ea"/>
        <a:cs typeface="+mn-cs"/>
        <a:sym typeface="游ゴシック"/>
      </a:defRPr>
    </a:lvl8pPr>
    <a:lvl9pPr indent="1828800" latinLnBrk="0">
      <a:defRPr sz="1200">
        <a:latin typeface="+mn-lt"/>
        <a:ea typeface="+mn-ea"/>
        <a:cs typeface="+mn-cs"/>
        <a:sym typeface="游ゴシック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21" name="本文レベル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30" name="本文レベル1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9" name="本文レベル1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タイトルテキスト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8" name="本文レベル1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9" name="テキスト プレースホルダー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タイトルテキスト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タイトルテキスト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73" name="本文レベル1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4" name="テキスト プレースホルダー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タイトルテキスト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83" name="図プレースホルダー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本文レベル1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8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hyperlink" Target="http://www.quobo-pic.com/" TargetMode="External"/><Relationship Id="rId4" Type="http://schemas.openxmlformats.org/officeDocument/2006/relationships/image" Target="../media/image1.tif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直木賞作家・姫野カオルコプロデュース作品…"/>
          <p:cNvSpPr txBox="1"/>
          <p:nvPr/>
        </p:nvSpPr>
        <p:spPr>
          <a:xfrm>
            <a:off x="1630045" y="2821305"/>
            <a:ext cx="8931911" cy="1215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35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直木賞作家・姫野カオルコプロデュース作品</a:t>
            </a:r>
          </a:p>
          <a:p>
            <a:pPr defTabSz="457200">
              <a:defRPr sz="35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　　　　　聞き耳アワーシリーズ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8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１．企画概要"/>
          <p:cNvSpPr txBox="1"/>
          <p:nvPr/>
        </p:nvSpPr>
        <p:spPr>
          <a:xfrm>
            <a:off x="919988" y="767080"/>
            <a:ext cx="20091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１．企画概要</a:t>
            </a:r>
          </a:p>
        </p:txBody>
      </p:sp>
      <p:sp>
        <p:nvSpPr>
          <p:cNvPr id="100" name="文学を「読む」から「劇場で聴く」へ。…"/>
          <p:cNvSpPr txBox="1"/>
          <p:nvPr/>
        </p:nvSpPr>
        <p:spPr>
          <a:xfrm>
            <a:off x="958088" y="1516380"/>
            <a:ext cx="7571741" cy="3285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sz="2100"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t>文学を「読む」から「劇場で聴く」へ。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本企画は、直木賞作家・姫野カオルコがプロデュースする</a:t>
            </a:r>
            <a:br/>
            <a:r>
              <a:t>新しい文学体験型朗読劇シリーズです。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選び抜かれた珠玉の物語を、劇場という空間で</a:t>
            </a:r>
            <a:br/>
            <a:r>
              <a:t>声・音・映像とともにQPSSが立体化。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ライブ体験を起点とし、ポッドキャスト・音声配信へと展開、</a:t>
            </a:r>
            <a:br/>
            <a:r>
              <a:t>「耳から出会う文学」を日常へ届けます。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タイトル 1"/>
          <p:cNvSpPr txBox="1"/>
          <p:nvPr>
            <p:ph type="ctrTitle"/>
          </p:nvPr>
        </p:nvSpPr>
        <p:spPr>
          <a:xfrm>
            <a:off x="5232400" y="1641751"/>
            <a:ext cx="6140450" cy="132344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FFFFFF"/>
                </a:solidFill>
                <a:latin typeface="凸版文久明朝 レギュラー"/>
                <a:ea typeface="凸版文久明朝 レギュラー"/>
                <a:cs typeface="凸版文久明朝 レギュラー"/>
                <a:sym typeface="凸版文久明朝 レギュラー"/>
              </a:defRPr>
            </a:lvl1pPr>
          </a:lstStyle>
          <a:p>
            <a:pPr/>
            <a:r>
              <a:t>企画概要</a:t>
            </a:r>
          </a:p>
        </p:txBody>
      </p:sp>
      <p:pic>
        <p:nvPicPr>
          <p:cNvPr id="104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２．企画意図"/>
          <p:cNvSpPr txBox="1"/>
          <p:nvPr/>
        </p:nvSpPr>
        <p:spPr>
          <a:xfrm>
            <a:off x="919988" y="767080"/>
            <a:ext cx="20091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２．企画意図</a:t>
            </a:r>
          </a:p>
        </p:txBody>
      </p:sp>
      <p:sp>
        <p:nvSpPr>
          <p:cNvPr id="106" name="本企画は、 「耳からはじまる文学体験」を劇場で創出させたい。…"/>
          <p:cNvSpPr txBox="1"/>
          <p:nvPr/>
        </p:nvSpPr>
        <p:spPr>
          <a:xfrm>
            <a:off x="958088" y="1516380"/>
            <a:ext cx="8350505" cy="3971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本企画は、</a:t>
            </a:r>
            <a:br/>
            <a:r>
              <a:rPr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rPr>
              <a:t>「耳からはじまる文学体験」を劇場で創出させたい。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物語は、本の中だけに閉じ込めておくにはもったいないです。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活字離れが進む一方で、「読む時間はないけれど、聴く時間はある」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そんな現代人の生活リズムに寄り添い、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ライブだからこそできる物語の内部にいるような体験、</a:t>
            </a:r>
            <a:br/>
            <a:r>
              <a:t>そして文学の豊かさを、もっと身近に届けたいと企画しました。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タイトル 1"/>
          <p:cNvSpPr txBox="1"/>
          <p:nvPr>
            <p:ph type="ctrTitle"/>
          </p:nvPr>
        </p:nvSpPr>
        <p:spPr>
          <a:xfrm>
            <a:off x="5232400" y="1641751"/>
            <a:ext cx="6140450" cy="132344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FFFFFF"/>
                </a:solidFill>
                <a:latin typeface="凸版文久明朝 レギュラー"/>
                <a:ea typeface="凸版文久明朝 レギュラー"/>
                <a:cs typeface="凸版文久明朝 レギュラー"/>
                <a:sym typeface="凸版文久明朝 レギュラー"/>
              </a:defRPr>
            </a:lvl1pPr>
          </a:lstStyle>
          <a:p>
            <a:pPr/>
            <a:r>
              <a:t>企画概要</a:t>
            </a:r>
          </a:p>
        </p:txBody>
      </p:sp>
      <p:pic>
        <p:nvPicPr>
          <p:cNvPr id="110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３．作品コンセプト"/>
          <p:cNvSpPr txBox="1"/>
          <p:nvPr/>
        </p:nvSpPr>
        <p:spPr>
          <a:xfrm>
            <a:off x="919988" y="767080"/>
            <a:ext cx="29616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３．作品コンセプト</a:t>
            </a:r>
          </a:p>
        </p:txBody>
      </p:sp>
      <p:sp>
        <p:nvSpPr>
          <p:cNvPr id="112" name="少し怖くて、少し可笑しくて、なぜか心に残る物語たち。…"/>
          <p:cNvSpPr txBox="1"/>
          <p:nvPr/>
        </p:nvSpPr>
        <p:spPr>
          <a:xfrm>
            <a:off x="958088" y="1516380"/>
            <a:ext cx="8105141" cy="3412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少し怖くて、少し可笑しくて、なぜか心に残る物語たち。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怪談、幻想譚、純文学、珠玉の短編——</a:t>
            </a:r>
            <a:br/>
            <a:r>
              <a:t>ジャンルを横断しながら、</a:t>
            </a:r>
            <a:br/>
            <a:r>
              <a:t>耳で聴くと、より深く沁みる作品を姫野カオルコが選書。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音楽・環境音による没入感ある演出の中、実力派キャストが朗読。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公演ごとに、違う世界へ迷い込むような感覚へいざなう。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そんな連作型朗読劇シリーズです。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タイトル 1"/>
          <p:cNvSpPr txBox="1"/>
          <p:nvPr>
            <p:ph type="ctrTitle"/>
          </p:nvPr>
        </p:nvSpPr>
        <p:spPr>
          <a:xfrm>
            <a:off x="5232400" y="1641751"/>
            <a:ext cx="6140450" cy="132344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FFFFFF"/>
                </a:solidFill>
                <a:latin typeface="凸版文久明朝 レギュラー"/>
                <a:ea typeface="凸版文久明朝 レギュラー"/>
                <a:cs typeface="凸版文久明朝 レギュラー"/>
                <a:sym typeface="凸版文久明朝 レギュラー"/>
              </a:defRPr>
            </a:lvl1pPr>
          </a:lstStyle>
          <a:p>
            <a:pPr/>
            <a:r>
              <a:t>企画概要</a:t>
            </a:r>
          </a:p>
        </p:txBody>
      </p:sp>
      <p:pic>
        <p:nvPicPr>
          <p:cNvPr id="116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４．直木賞作家「姫野カオルコ」"/>
          <p:cNvSpPr txBox="1"/>
          <p:nvPr/>
        </p:nvSpPr>
        <p:spPr>
          <a:xfrm>
            <a:off x="919988" y="767080"/>
            <a:ext cx="48539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４．直木賞作家「姫野カオルコ」</a:t>
            </a:r>
          </a:p>
        </p:txBody>
      </p:sp>
      <p:sp>
        <p:nvSpPr>
          <p:cNvPr id="118" name="直木賞作家 姫野カオルコ…"/>
          <p:cNvSpPr txBox="1"/>
          <p:nvPr/>
        </p:nvSpPr>
        <p:spPr>
          <a:xfrm>
            <a:off x="958088" y="1516380"/>
            <a:ext cx="7235699" cy="4072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2100"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t>直木賞作家　姫野カオルコ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鋭さとユーモア、そして人間の機微を描き続けてきた作家。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本シリーズでは</a:t>
            </a:r>
            <a:br/>
            <a:r>
              <a:t>・作品選定</a:t>
            </a:r>
            <a:br/>
            <a:r>
              <a:t>・世界観監修</a:t>
            </a:r>
            <a:br/>
            <a:r>
              <a:t>・文学的クオリティ統括</a:t>
            </a:r>
            <a:br/>
            <a:r>
              <a:t>を担い、キュレーターとして参加。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単なる朗読劇ではなく、</a:t>
            </a:r>
            <a:br/>
            <a:r>
              <a:t>作家と一緒になって届ける文学レーベルとして展開します。</a:t>
            </a:r>
          </a:p>
        </p:txBody>
      </p:sp>
      <p:pic>
        <p:nvPicPr>
          <p:cNvPr id="119" name="画像" descr="画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02700" y="2110461"/>
            <a:ext cx="2359483" cy="32616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タイトル 1"/>
          <p:cNvSpPr txBox="1"/>
          <p:nvPr>
            <p:ph type="ctrTitle"/>
          </p:nvPr>
        </p:nvSpPr>
        <p:spPr>
          <a:xfrm>
            <a:off x="5232400" y="1641751"/>
            <a:ext cx="6140450" cy="132344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FFFFFF"/>
                </a:solidFill>
                <a:latin typeface="凸版文久明朝 レギュラー"/>
                <a:ea typeface="凸版文久明朝 レギュラー"/>
                <a:cs typeface="凸版文久明朝 レギュラー"/>
                <a:sym typeface="凸版文久明朝 レギュラー"/>
              </a:defRPr>
            </a:lvl1pPr>
          </a:lstStyle>
          <a:p>
            <a:pPr/>
            <a:r>
              <a:t>企画概要</a:t>
            </a:r>
          </a:p>
        </p:txBody>
      </p:sp>
      <p:pic>
        <p:nvPicPr>
          <p:cNvPr id="123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５．イラストレーター：ラジカル鈴木"/>
          <p:cNvSpPr txBox="1"/>
          <p:nvPr/>
        </p:nvSpPr>
        <p:spPr>
          <a:xfrm>
            <a:off x="919988" y="767080"/>
            <a:ext cx="5485766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５．イラストレーター：ラジカル鈴木</a:t>
            </a:r>
          </a:p>
        </p:txBody>
      </p:sp>
      <p:sp>
        <p:nvSpPr>
          <p:cNvPr id="125" name="独特の線と色彩感覚で、 どこか懐かしく、 どこか不穏な幻想世界を描くイラストレーター。…"/>
          <p:cNvSpPr txBox="1"/>
          <p:nvPr/>
        </p:nvSpPr>
        <p:spPr>
          <a:xfrm>
            <a:off x="958088" y="1516380"/>
            <a:ext cx="5958206" cy="3260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独特の線と色彩感覚で、</a:t>
            </a:r>
            <a:br/>
            <a:r>
              <a:t>どこか懐かしく、</a:t>
            </a:r>
            <a:br/>
            <a:r>
              <a:t>どこか不穏な幻想世界を描くイラストレーター。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ユーモアと毒気が共存するビジュアルは、</a:t>
            </a:r>
            <a:br/>
            <a:r>
              <a:t>文学と深く響き合う。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</a:p>
        </p:txBody>
      </p:sp>
      <p:pic>
        <p:nvPicPr>
          <p:cNvPr id="126" name="画像" descr="画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51725" y="1473535"/>
            <a:ext cx="3879454" cy="25714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タイトル 1"/>
          <p:cNvSpPr txBox="1"/>
          <p:nvPr>
            <p:ph type="ctrTitle"/>
          </p:nvPr>
        </p:nvSpPr>
        <p:spPr>
          <a:xfrm>
            <a:off x="5232400" y="1641751"/>
            <a:ext cx="6140450" cy="132344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FFFFFF"/>
                </a:solidFill>
                <a:latin typeface="凸版文久明朝 レギュラー"/>
                <a:ea typeface="凸版文久明朝 レギュラー"/>
                <a:cs typeface="凸版文久明朝 レギュラー"/>
                <a:sym typeface="凸版文久明朝 レギュラー"/>
              </a:defRPr>
            </a:lvl1pPr>
          </a:lstStyle>
          <a:p>
            <a:pPr/>
            <a:r>
              <a:t>企画概要</a:t>
            </a:r>
          </a:p>
        </p:txBody>
      </p:sp>
      <p:pic>
        <p:nvPicPr>
          <p:cNvPr id="130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６．QPSSとは"/>
          <p:cNvSpPr txBox="1"/>
          <p:nvPr/>
        </p:nvSpPr>
        <p:spPr>
          <a:xfrm>
            <a:off x="919988" y="741680"/>
            <a:ext cx="2256412" cy="480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６．QPSSとは</a:t>
            </a:r>
          </a:p>
        </p:txBody>
      </p:sp>
      <p:sp>
        <p:nvSpPr>
          <p:cNvPr id="132" name="QUOBO PICTURES Screenwriters Studio（QPSS）…"/>
          <p:cNvSpPr txBox="1"/>
          <p:nvPr/>
        </p:nvSpPr>
        <p:spPr>
          <a:xfrm>
            <a:off x="958088" y="1516380"/>
            <a:ext cx="6645758" cy="5038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2100"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defRPr>
            </a:pPr>
            <a:r>
              <a:t>QUOBO PICTURES Screenwriters Studio（QPSS）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「物語の力で世界を動かす」知的生産工房。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映画・ドラマの企画開発から、</a:t>
            </a:r>
            <a:br/>
            <a:r>
              <a:t>ゲーム、企業キャラクター開発まで、</a:t>
            </a:r>
            <a:br/>
            <a:r>
              <a:t>構成力と創造性であらゆる物語を設計・構築する</a:t>
            </a:r>
            <a:br/>
            <a:r>
              <a:t>クリエイティブ集団です。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本シリーズでは、</a:t>
            </a:r>
            <a:br/>
            <a:r>
              <a:t>脚本構成・舞台演出設計・音響設計を統括。</a:t>
            </a:r>
            <a:br/>
            <a:r>
              <a:t>文学作品を“舞台言語”へ翻訳する役割を担います。</a:t>
            </a:r>
          </a:p>
          <a:p>
            <a:pPr defTabSz="457200">
              <a:spcBef>
                <a:spcPts val="1200"/>
              </a:spcBef>
              <a:defRPr sz="1200" u="sng">
                <a:solidFill>
                  <a:srgbClr val="0000EE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u="none">
                <a:solidFill>
                  <a:srgbClr val="000000"/>
                </a:solidFill>
              </a:rPr>
              <a:t>HP：</a:t>
            </a:r>
            <a:r>
              <a: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http://www.quobo-pic.com</a:t>
            </a:r>
            <a:endParaRPr u="none">
              <a:solidFill>
                <a:srgbClr val="000000"/>
              </a:solidFill>
            </a:endParaRPr>
          </a:p>
        </p:txBody>
      </p:sp>
      <p:pic>
        <p:nvPicPr>
          <p:cNvPr id="133" name="画像" descr="画像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02700" y="2110461"/>
            <a:ext cx="2359483" cy="32616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6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７．メディア展開"/>
          <p:cNvSpPr txBox="1"/>
          <p:nvPr/>
        </p:nvSpPr>
        <p:spPr>
          <a:xfrm>
            <a:off x="919988" y="767080"/>
            <a:ext cx="259969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７．メディア展開</a:t>
            </a:r>
          </a:p>
        </p:txBody>
      </p:sp>
      <p:sp>
        <p:nvSpPr>
          <p:cNvPr id="138" name="本公演は単発イベントではなく、継続的なシリーズIPとして展開。…"/>
          <p:cNvSpPr txBox="1"/>
          <p:nvPr/>
        </p:nvSpPr>
        <p:spPr>
          <a:xfrm>
            <a:off x="958088" y="1516380"/>
            <a:ext cx="8574533" cy="4352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本公演は単発イベントではなく、継続的なシリーズIPとして展開。</a:t>
            </a:r>
          </a:p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展開予定</a:t>
            </a:r>
            <a:br/>
            <a:r>
              <a:t>・劇場朗読公演</a:t>
            </a:r>
            <a:br/>
            <a:r>
              <a:t>・ポッドキャスト配信</a:t>
            </a:r>
            <a:br/>
            <a:r>
              <a:t>・音声アーカイブ販売</a:t>
            </a:r>
            <a:br/>
            <a:r>
              <a:t>・サブスク配信</a:t>
            </a:r>
            <a:br/>
            <a:r>
              <a:t>・書籍コラボ</a:t>
            </a:r>
            <a:br/>
            <a:r>
              <a:t>・グッズ化</a:t>
            </a:r>
            <a:br/>
            <a:r>
              <a:t>・オリジナルキャラクター展開</a:t>
            </a:r>
          </a:p>
          <a:p>
            <a:pPr defTabSz="457200">
              <a:spcBef>
                <a:spcPts val="12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聴く文学ブランドとして成長させ、最終的に「映像化」を目指します。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タイトル 1"/>
          <p:cNvSpPr txBox="1"/>
          <p:nvPr>
            <p:ph type="ctrTitle"/>
          </p:nvPr>
        </p:nvSpPr>
        <p:spPr>
          <a:xfrm>
            <a:off x="5232400" y="1641751"/>
            <a:ext cx="6140450" cy="1323440"/>
          </a:xfrm>
          <a:prstGeom prst="rect">
            <a:avLst/>
          </a:prstGeom>
        </p:spPr>
        <p:txBody>
          <a:bodyPr anchor="t"/>
          <a:lstStyle>
            <a:lvl1pPr algn="l">
              <a:defRPr sz="4000">
                <a:solidFill>
                  <a:srgbClr val="FFFFFF"/>
                </a:solidFill>
                <a:latin typeface="凸版文久明朝 レギュラー"/>
                <a:ea typeface="凸版文久明朝 レギュラー"/>
                <a:cs typeface="凸版文久明朝 レギュラー"/>
                <a:sym typeface="凸版文久明朝 レギュラー"/>
              </a:defRPr>
            </a:lvl1pPr>
          </a:lstStyle>
          <a:p>
            <a:pPr/>
            <a:r>
              <a:t>企画概要</a:t>
            </a:r>
          </a:p>
        </p:txBody>
      </p:sp>
      <p:pic>
        <p:nvPicPr>
          <p:cNvPr id="142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８．ターゲット"/>
          <p:cNvSpPr txBox="1"/>
          <p:nvPr/>
        </p:nvSpPr>
        <p:spPr>
          <a:xfrm>
            <a:off x="919988" y="767080"/>
            <a:ext cx="23266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８．ターゲット</a:t>
            </a:r>
          </a:p>
        </p:txBody>
      </p:sp>
      <p:sp>
        <p:nvSpPr>
          <p:cNvPr id="144" name="文学・小説ファンはもちろんですが、  ・20〜40代カルチャー層 ・ポッドキャストリスナー ・ミステリー／怪談好き ・舞台・朗読劇ファン  など活字から離れていた新規層にもアプローチします。…"/>
          <p:cNvSpPr txBox="1"/>
          <p:nvPr/>
        </p:nvSpPr>
        <p:spPr>
          <a:xfrm>
            <a:off x="958088" y="1516380"/>
            <a:ext cx="7262369" cy="4200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文学・小説ファンはもちろんですが、</a:t>
            </a:r>
            <a:br/>
            <a:br/>
            <a:r>
              <a:t>・20〜40代カルチャー層</a:t>
            </a:r>
            <a:br/>
            <a:r>
              <a:t>・ポッドキャストリスナー</a:t>
            </a:r>
            <a:br/>
            <a:r>
              <a:t>・ミステリー／怪談好き</a:t>
            </a:r>
            <a:br/>
            <a:r>
              <a:t>・舞台・朗読劇ファン</a:t>
            </a:r>
            <a:br/>
            <a:br/>
            <a:r>
              <a:t>など活字から離れていた新規層にもアプローチします。</a:t>
            </a:r>
          </a:p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また、耳を象ったオリジナルキャラクターを</a:t>
            </a:r>
            <a:br/>
            <a:r>
              <a:t>制作し展開することでキャラクターへの愛着を湧かせます。</a:t>
            </a:r>
          </a:p>
        </p:txBody>
      </p:sp>
      <p:pic>
        <p:nvPicPr>
          <p:cNvPr id="145" name="Gemini_Generated_Image_lpylgclpylgclpyl.png" descr="Gemini_Generated_Image_lpylgclpylgclpyl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78800" y="1419175"/>
            <a:ext cx="3343325" cy="33433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8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９．実施概要"/>
          <p:cNvSpPr txBox="1"/>
          <p:nvPr/>
        </p:nvSpPr>
        <p:spPr>
          <a:xfrm>
            <a:off x="919988" y="767080"/>
            <a:ext cx="20091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９．実施概要</a:t>
            </a:r>
          </a:p>
        </p:txBody>
      </p:sp>
      <p:sp>
        <p:nvSpPr>
          <p:cNvPr id="150" name="・上映期間：３日間を予定（最終日はマチネのみ） ・上演時間：約90分（トークショー込み） ・出演：2〜3名 ・会場：小規模劇場（100席想定） ・公演回数：5回公演 ・チケット代金：5000円 ・将来的にシリーズ化／定期開催 ※詳細は調整可能"/>
          <p:cNvSpPr txBox="1"/>
          <p:nvPr/>
        </p:nvSpPr>
        <p:spPr>
          <a:xfrm>
            <a:off x="958088" y="1516380"/>
            <a:ext cx="6238241" cy="3209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・上映期間：３日間を予定（最終日はマチネのみ）</a:t>
            </a:r>
            <a:br/>
            <a:r>
              <a:t>・上演時間：約90分（トークショー込み）</a:t>
            </a:r>
            <a:br/>
            <a:r>
              <a:t>・出演：2〜3名</a:t>
            </a:r>
            <a:br/>
            <a:r>
              <a:t>・会場：小規模劇場（100席想定）</a:t>
            </a:r>
            <a:br/>
            <a:r>
              <a:t>・公演回数：5回公演</a:t>
            </a:r>
            <a:br/>
            <a:r>
              <a:t>・チケット代金：5000円</a:t>
            </a:r>
            <a:br/>
            <a:r>
              <a:t>・将来的にシリーズ化／定期開催</a:t>
            </a:r>
            <a:br/>
            <a:r>
              <a:t>※詳細は調整可能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3" name="IMG_4536.jpg" descr="IMG_453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20898" y="6027873"/>
            <a:ext cx="2100913" cy="433553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１０．公演予定"/>
          <p:cNvSpPr txBox="1"/>
          <p:nvPr/>
        </p:nvSpPr>
        <p:spPr>
          <a:xfrm>
            <a:off x="919988" y="767080"/>
            <a:ext cx="2326641" cy="423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500" u="sng"/>
            </a:lvl1pPr>
          </a:lstStyle>
          <a:p>
            <a:pPr/>
            <a:r>
              <a:t>１０．公演予定</a:t>
            </a:r>
          </a:p>
        </p:txBody>
      </p:sp>
      <p:sp>
        <p:nvSpPr>
          <p:cNvPr id="155" name="第１弾「エンドレス・ラブ」（徳間書店）11月または12月想定  第２弾「X博士」  第３弾「探偵物語」…"/>
          <p:cNvSpPr txBox="1"/>
          <p:nvPr/>
        </p:nvSpPr>
        <p:spPr>
          <a:xfrm>
            <a:off x="958088" y="1516380"/>
            <a:ext cx="7706424" cy="3744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第１弾「エンドレス・ラブ」（徳間書店）11月または12月想定 </a:t>
            </a:r>
            <a:br/>
            <a:r>
              <a:t>第２弾「X博士」 </a:t>
            </a:r>
            <a:br/>
            <a:r>
              <a:t>第３弾「探偵物語」 </a:t>
            </a:r>
          </a:p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主演キャストは、舞台で高い動員力と熱量を持つ</a:t>
            </a:r>
            <a:br/>
            <a:r>
              <a:rPr>
                <a:latin typeface="游ゴシック体 ボールド"/>
                <a:ea typeface="游ゴシック体 ボールド"/>
                <a:cs typeface="游ゴシック体 ボールド"/>
                <a:sym typeface="游ゴシック体 ボールド"/>
              </a:rPr>
              <a:t>2.5次元俳優を想定。</a:t>
            </a:r>
            <a:endParaRPr>
              <a:latin typeface="游ゴシック体 ボールド"/>
              <a:ea typeface="游ゴシック体 ボールド"/>
              <a:cs typeface="游ゴシック体 ボールド"/>
              <a:sym typeface="游ゴシック体 ボールド"/>
            </a:endParaRPr>
          </a:p>
          <a:p>
            <a:pPr defTabSz="457200">
              <a:spcBef>
                <a:spcPts val="1400"/>
              </a:spcBef>
              <a:defRPr sz="2100">
                <a:latin typeface="游ゴシック体 ミディアム"/>
                <a:ea typeface="游ゴシック体 ミディアム"/>
                <a:cs typeface="游ゴシック体 ミディアム"/>
                <a:sym typeface="游ゴシック体 ミディアム"/>
              </a:defRPr>
            </a:pPr>
            <a:r>
              <a:t>キャラクター性と声の表現力を兼ね備えたキャストにより、</a:t>
            </a:r>
            <a:br/>
            <a:r>
              <a:t>文学とエンターテインメントの橋渡しを図ります。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テーマ">
      <a:majorFont>
        <a:latin typeface="Helvetica"/>
        <a:ea typeface="Helvetica"/>
        <a:cs typeface="Helvetica"/>
      </a:majorFont>
      <a:minorFont>
        <a:latin typeface="游ゴシック"/>
        <a:ea typeface="游ゴシック"/>
        <a:cs typeface="游ゴシック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游ゴシック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游ゴシック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テーマ">
      <a:majorFont>
        <a:latin typeface="Helvetica"/>
        <a:ea typeface="Helvetica"/>
        <a:cs typeface="Helvetica"/>
      </a:majorFont>
      <a:minorFont>
        <a:latin typeface="游ゴシック"/>
        <a:ea typeface="游ゴシック"/>
        <a:cs typeface="游ゴシック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游ゴシック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游ゴシック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